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72" d="100"/>
          <a:sy n="72" d="100"/>
        </p:scale>
        <p:origin x="636" y="78"/>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18-02-2026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18/02/2026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ocs.streamlit.io/" TargetMode="External"/><Relationship Id="rId2" Type="http://schemas.openxmlformats.org/officeDocument/2006/relationships/hyperlink" Target="https://platform.openai.com/docs/" TargetMode="External"/><Relationship Id="rId1" Type="http://schemas.openxmlformats.org/officeDocument/2006/relationships/slideLayout" Target="../slideLayouts/slideLayout3.xml"/><Relationship Id="rId5" Type="http://schemas.openxmlformats.org/officeDocument/2006/relationships/hyperlink" Target="https://github.com/SURESHKUMAR-007/GenAI-Code-Reviewer-Python.git" TargetMode="External"/><Relationship Id="rId4" Type="http://schemas.openxmlformats.org/officeDocument/2006/relationships/hyperlink" Target="https://www.python.org/"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206342" y="44037"/>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35684"/>
            <a:ext cx="12224657"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3600" b="1" cap="all" dirty="0" err="1">
                <a:latin typeface="Aptos"/>
              </a:rPr>
              <a:t>genai</a:t>
            </a:r>
            <a:r>
              <a:rPr lang="en-US" sz="3600" b="1" cap="all" dirty="0">
                <a:latin typeface="Aptos"/>
              </a:rPr>
              <a:t> code reviewer</a:t>
            </a:r>
            <a:endParaRPr lang="en-US" sz="36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7303" y="3599409"/>
            <a:ext cx="4666847"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SURESH KUMAR.</a:t>
            </a:r>
          </a:p>
          <a:p>
            <a:pPr algn="l">
              <a:spcAft>
                <a:spcPts val="600"/>
              </a:spcAft>
            </a:pPr>
            <a:r>
              <a:rPr lang="en-US" sz="1600" b="1" cap="all" dirty="0"/>
              <a:t>College Name: GOJAN SCHOOL OF BUSINESS AND TECHNOLOGY</a:t>
            </a:r>
          </a:p>
          <a:p>
            <a:pPr algn="l">
              <a:spcAft>
                <a:spcPts val="600"/>
              </a:spcAft>
            </a:pPr>
            <a:r>
              <a:rPr lang="en-US" sz="1600" b="1" cap="all" dirty="0"/>
              <a:t>Department: B.E.COMPUTER SCIENCE AND ENGINEERING</a:t>
            </a:r>
          </a:p>
          <a:p>
            <a:pPr algn="l">
              <a:spcAft>
                <a:spcPts val="600"/>
              </a:spcAft>
            </a:pPr>
            <a:r>
              <a:rPr lang="en-US" sz="1600" b="1" cap="all" dirty="0"/>
              <a:t>Email ID: sureshkd180807@gmail.com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20609023-3AF1-EA13-03A4-F4B08BE579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9515" y="1087290"/>
            <a:ext cx="5596309" cy="4650764"/>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3200" dirty="0">
                <a:latin typeface="Franklin Gothic Book"/>
              </a:rPr>
              <a:t>Developers often face challenges in maintaining high code quality, frequently missing subtle bugs or writing inefficient code due to human error or lack of experience. Traditional manual code reviews are time-consuming, prone to fatigue, and not always available immediately, which leads to delayed project timelines and persistent errors in software applications.</a:t>
            </a:r>
            <a:endParaRPr lang="en-US" sz="3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05820" y="1332016"/>
            <a:ext cx="11986179" cy="5095288"/>
          </a:xfrm>
        </p:spPr>
        <p:txBody>
          <a:bodyPr vert="horz" lIns="91440" tIns="45720" rIns="91440" bIns="45720" rtlCol="0" anchor="t">
            <a:noAutofit/>
          </a:bodyPr>
          <a:lstStyle/>
          <a:p>
            <a:pPr marL="305435" indent="-305435">
              <a:spcBef>
                <a:spcPct val="20000"/>
              </a:spcBef>
              <a:spcAft>
                <a:spcPts val="600"/>
              </a:spcAft>
              <a:buFont typeface="Arial"/>
              <a:buChar char="•"/>
            </a:pPr>
            <a:r>
              <a:rPr lang="en-US" sz="1600" b="1" dirty="0">
                <a:latin typeface="Calibri"/>
                <a:ea typeface="Calibri"/>
                <a:cs typeface="Calibri"/>
              </a:rPr>
              <a:t>The proposed system aims to address the challenge of inefficient code debugging by automating the review process. This involves leveraging Large Language Models (LLMs) to analyze code logic and syntax instantly. The solution will consist of the following components:</a:t>
            </a:r>
          </a:p>
          <a:p>
            <a:pPr marL="305435" indent="-305435">
              <a:spcBef>
                <a:spcPct val="20000"/>
              </a:spcBef>
              <a:spcAft>
                <a:spcPts val="600"/>
              </a:spcAft>
              <a:buFont typeface="Arial"/>
              <a:buChar char="•"/>
            </a:pPr>
            <a:r>
              <a:rPr lang="en-US" sz="1600" b="1" dirty="0">
                <a:latin typeface="Calibri"/>
                <a:ea typeface="Calibri"/>
                <a:cs typeface="Calibri"/>
              </a:rPr>
              <a:t>  Input Handling:</a:t>
            </a:r>
          </a:p>
          <a:p>
            <a:pPr marL="457200" lvl="1" indent="0">
              <a:spcBef>
                <a:spcPct val="20000"/>
              </a:spcBef>
              <a:spcAft>
                <a:spcPts val="600"/>
              </a:spcAft>
              <a:buNone/>
            </a:pPr>
            <a:r>
              <a:rPr lang="en-US" sz="1400" b="1" dirty="0">
                <a:latin typeface="Calibri"/>
                <a:ea typeface="Calibri"/>
                <a:cs typeface="Calibri"/>
              </a:rPr>
              <a:t>     Develop a user interface that accepts raw Python code input from the user.</a:t>
            </a:r>
          </a:p>
          <a:p>
            <a:pPr marL="457200" lvl="1" indent="0">
              <a:spcBef>
                <a:spcPct val="20000"/>
              </a:spcBef>
              <a:spcAft>
                <a:spcPts val="600"/>
              </a:spcAft>
              <a:buNone/>
            </a:pPr>
            <a:r>
              <a:rPr lang="en-US" sz="1400" b="1" dirty="0">
                <a:latin typeface="Calibri"/>
                <a:ea typeface="Calibri"/>
                <a:cs typeface="Calibri"/>
              </a:rPr>
              <a:t>     Capture the submitted code string and validate it to ensure it is not empty before processing.</a:t>
            </a:r>
            <a:endParaRPr lang="en-US" sz="1000" b="1" dirty="0">
              <a:latin typeface="Calibri"/>
              <a:ea typeface="Calibri"/>
              <a:cs typeface="Calibri"/>
            </a:endParaRPr>
          </a:p>
          <a:p>
            <a:pPr marL="305435" indent="-305435">
              <a:spcBef>
                <a:spcPct val="20000"/>
              </a:spcBef>
              <a:spcAft>
                <a:spcPts val="600"/>
              </a:spcAft>
              <a:buFont typeface="Arial"/>
              <a:buChar char="•"/>
            </a:pPr>
            <a:r>
              <a:rPr lang="en-US" sz="1600" b="1" dirty="0">
                <a:latin typeface="Calibri"/>
                <a:ea typeface="Calibri"/>
                <a:cs typeface="Calibri"/>
              </a:rPr>
              <a:t>  Prompt Engineering:</a:t>
            </a:r>
          </a:p>
          <a:p>
            <a:pPr marL="457200" lvl="1" indent="0">
              <a:spcBef>
                <a:spcPct val="20000"/>
              </a:spcBef>
              <a:spcAft>
                <a:spcPts val="600"/>
              </a:spcAft>
              <a:buNone/>
            </a:pPr>
            <a:r>
              <a:rPr lang="en-US" sz="1000" b="1" dirty="0">
                <a:latin typeface="Calibri"/>
                <a:ea typeface="Calibri"/>
                <a:cs typeface="Calibri"/>
              </a:rPr>
              <a:t>    </a:t>
            </a:r>
            <a:r>
              <a:rPr lang="en-US" sz="1400" b="1" dirty="0">
                <a:latin typeface="Calibri"/>
                <a:ea typeface="Calibri"/>
                <a:cs typeface="Calibri"/>
              </a:rPr>
              <a:t>Construct a structured prompt that wraps the user's code with specific instructions for the AI (e.g., "Find bugs," "Suggest improvements," "Fix code").</a:t>
            </a:r>
          </a:p>
          <a:p>
            <a:pPr marL="457200" lvl="1" indent="0">
              <a:spcBef>
                <a:spcPct val="20000"/>
              </a:spcBef>
              <a:spcAft>
                <a:spcPts val="600"/>
              </a:spcAft>
              <a:buNone/>
            </a:pPr>
            <a:r>
              <a:rPr lang="en-US" sz="1400" b="1" dirty="0">
                <a:latin typeface="Calibri"/>
                <a:ea typeface="Calibri"/>
                <a:cs typeface="Calibri"/>
              </a:rPr>
              <a:t>    Ensure the prompt context allows the AI to understand the intent of the code snippet.</a:t>
            </a:r>
          </a:p>
          <a:p>
            <a:pPr marL="305435" indent="-305435">
              <a:spcBef>
                <a:spcPct val="20000"/>
              </a:spcBef>
              <a:spcAft>
                <a:spcPts val="600"/>
              </a:spcAft>
              <a:buFont typeface="Arial"/>
              <a:buChar char="•"/>
            </a:pPr>
            <a:r>
              <a:rPr lang="en-US" sz="1600" b="1" dirty="0">
                <a:latin typeface="Calibri"/>
                <a:ea typeface="Calibri"/>
                <a:cs typeface="Calibri"/>
              </a:rPr>
              <a:t>  AI Model Integration:</a:t>
            </a:r>
          </a:p>
          <a:p>
            <a:pPr marL="457200" lvl="1" indent="0">
              <a:spcBef>
                <a:spcPct val="20000"/>
              </a:spcBef>
              <a:spcAft>
                <a:spcPts val="600"/>
              </a:spcAft>
              <a:buNone/>
            </a:pPr>
            <a:r>
              <a:rPr lang="en-US" sz="1400" b="1" dirty="0">
                <a:latin typeface="Calibri"/>
                <a:ea typeface="Calibri"/>
                <a:cs typeface="Calibri"/>
              </a:rPr>
              <a:t>    Implement the OpenAI API to act as the core logic processor.</a:t>
            </a:r>
          </a:p>
          <a:p>
            <a:pPr marL="457200" lvl="1" indent="0">
              <a:spcBef>
                <a:spcPct val="20000"/>
              </a:spcBef>
              <a:spcAft>
                <a:spcPts val="600"/>
              </a:spcAft>
              <a:buNone/>
            </a:pPr>
            <a:r>
              <a:rPr lang="en-US" sz="1400" b="1" dirty="0">
                <a:latin typeface="Calibri"/>
                <a:ea typeface="Calibri"/>
                <a:cs typeface="Calibri"/>
              </a:rPr>
              <a:t>    Utilize the model's capabilities to detect syntax errors, logical flaws, and security vulnerabilities in the submitted code.</a:t>
            </a:r>
          </a:p>
          <a:p>
            <a:pPr marL="305435" indent="-305435">
              <a:spcBef>
                <a:spcPct val="20000"/>
              </a:spcBef>
              <a:spcAft>
                <a:spcPts val="600"/>
              </a:spcAft>
              <a:buFont typeface="Arial"/>
              <a:buChar char="•"/>
            </a:pPr>
            <a:r>
              <a:rPr lang="en-US" sz="1600" b="1" dirty="0">
                <a:latin typeface="Calibri"/>
                <a:ea typeface="Calibri"/>
                <a:cs typeface="Calibri"/>
              </a:rPr>
              <a:t>  Response Formatting:</a:t>
            </a:r>
          </a:p>
          <a:p>
            <a:pPr marL="457200" lvl="1" indent="0">
              <a:spcBef>
                <a:spcPct val="20000"/>
              </a:spcBef>
              <a:spcAft>
                <a:spcPts val="600"/>
              </a:spcAft>
              <a:buNone/>
            </a:pPr>
            <a:r>
              <a:rPr lang="en-US" sz="1200" b="1" dirty="0">
                <a:latin typeface="Calibri"/>
                <a:ea typeface="Calibri"/>
                <a:cs typeface="Calibri"/>
              </a:rPr>
              <a:t>    </a:t>
            </a:r>
            <a:r>
              <a:rPr lang="en-US" sz="1400" b="1" dirty="0">
                <a:latin typeface="Calibri"/>
                <a:ea typeface="Calibri"/>
                <a:cs typeface="Calibri"/>
              </a:rPr>
              <a:t>Parse the AI's response to separate "Bug Reports," "Optimization Suggestions," and "Fixed Code" into distinct sections.</a:t>
            </a:r>
          </a:p>
          <a:p>
            <a:pPr marL="457200" lvl="1" indent="0">
              <a:spcBef>
                <a:spcPct val="20000"/>
              </a:spcBef>
              <a:spcAft>
                <a:spcPts val="600"/>
              </a:spcAft>
              <a:buNone/>
            </a:pPr>
            <a:r>
              <a:rPr lang="en-US" sz="1400" b="1" dirty="0">
                <a:latin typeface="Calibri"/>
                <a:ea typeface="Calibri"/>
                <a:cs typeface="Calibri"/>
              </a:rPr>
              <a:t>    Present the fixed code in a copy-paste-friendly format for immediate use.</a:t>
            </a:r>
            <a:endParaRPr lang="en-GB" sz="14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IN" sz="2200" b="1" dirty="0">
                <a:latin typeface="Franklin Gothic Book"/>
              </a:rPr>
              <a:t>The "System Approach" section outlines the overall strategy and methodology for developing and implementing the GenAI Code reviewer. Here's a suggested structure for this section:</a:t>
            </a:r>
            <a:endParaRPr lang="en-US" sz="2200" dirty="0">
              <a:latin typeface="Franklin Gothic Book"/>
            </a:endParaRPr>
          </a:p>
          <a:p>
            <a:pPr marL="305435" indent="-305435">
              <a:spcBef>
                <a:spcPct val="20000"/>
              </a:spcBef>
              <a:spcAft>
                <a:spcPts val="600"/>
              </a:spcAft>
              <a:buFont typeface="Arial"/>
              <a:buChar char="•"/>
            </a:pPr>
            <a:r>
              <a:rPr lang="en-US" sz="2200" b="1" dirty="0">
                <a:latin typeface="Franklin Gothic Book"/>
              </a:rPr>
              <a:t> Python: </a:t>
            </a:r>
            <a:r>
              <a:rPr lang="en-US" sz="2200" dirty="0">
                <a:latin typeface="Franklin Gothic Book"/>
              </a:rPr>
              <a:t>Selected as the primary programming language due to its extensive libraries and ease of integration with AI APIs</a:t>
            </a:r>
            <a:r>
              <a:rPr lang="en-US" sz="2200" b="1" dirty="0">
                <a:latin typeface="Franklin Gothic Book"/>
              </a:rPr>
              <a:t>.</a:t>
            </a:r>
          </a:p>
          <a:p>
            <a:pPr marL="305435" indent="-305435">
              <a:spcBef>
                <a:spcPct val="20000"/>
              </a:spcBef>
              <a:spcAft>
                <a:spcPts val="600"/>
              </a:spcAft>
              <a:buFont typeface="Arial"/>
              <a:buChar char="•"/>
            </a:pPr>
            <a:r>
              <a:rPr lang="en-US" sz="2200" b="1" dirty="0">
                <a:latin typeface="Franklin Gothic Book"/>
              </a:rPr>
              <a:t>  </a:t>
            </a:r>
            <a:r>
              <a:rPr lang="en-US" sz="2200" b="1" dirty="0" err="1">
                <a:latin typeface="Franklin Gothic Book"/>
              </a:rPr>
              <a:t>Streamlit</a:t>
            </a:r>
            <a:r>
              <a:rPr lang="en-US" sz="2200" b="1" dirty="0">
                <a:latin typeface="Franklin Gothic Book"/>
              </a:rPr>
              <a:t>: </a:t>
            </a:r>
            <a:r>
              <a:rPr lang="en-US" sz="2200" dirty="0">
                <a:latin typeface="Franklin Gothic Book"/>
              </a:rPr>
              <a:t>Used for the frontend to create a rapid, interactive web application without complex HTML/CSS coding</a:t>
            </a:r>
            <a:r>
              <a:rPr lang="en-US" sz="2200" b="1" dirty="0">
                <a:latin typeface="Franklin Gothic Book"/>
              </a:rPr>
              <a:t>.</a:t>
            </a:r>
          </a:p>
          <a:p>
            <a:pPr marL="305435" indent="-305435">
              <a:spcBef>
                <a:spcPct val="20000"/>
              </a:spcBef>
              <a:spcAft>
                <a:spcPts val="600"/>
              </a:spcAft>
              <a:buFont typeface="Arial"/>
              <a:buChar char="•"/>
            </a:pPr>
            <a:r>
              <a:rPr lang="en-US" sz="2200" b="1" dirty="0">
                <a:latin typeface="Franklin Gothic Book"/>
              </a:rPr>
              <a:t>  OpenAI API: </a:t>
            </a:r>
            <a:r>
              <a:rPr lang="en-US" sz="2200" dirty="0">
                <a:latin typeface="Franklin Gothic Book"/>
              </a:rPr>
              <a:t>Employed to access state-of-the-art Generative AI models for high-accuracy code analysis and generation.</a:t>
            </a:r>
          </a:p>
          <a:p>
            <a:pPr marL="305435" indent="-305435">
              <a:spcBef>
                <a:spcPct val="20000"/>
              </a:spcBef>
              <a:spcAft>
                <a:spcPts val="600"/>
              </a:spcAft>
              <a:buFont typeface="Arial"/>
              <a:buChar char="•"/>
            </a:pPr>
            <a:r>
              <a:rPr lang="en-US" sz="2200" b="1" dirty="0">
                <a:latin typeface="Franklin Gothic Book"/>
              </a:rPr>
              <a:t>  Git/GitHub: </a:t>
            </a:r>
            <a:r>
              <a:rPr lang="en-US" sz="2200" dirty="0">
                <a:latin typeface="Franklin Gothic Book"/>
              </a:rPr>
              <a:t>Utilized for version control to track changes and manage the project codebase effectively</a:t>
            </a:r>
            <a:r>
              <a:rPr lang="en-US" sz="2200" b="1" dirty="0">
                <a:latin typeface="Franklin Gothic Book"/>
              </a:rPr>
              <a:t>.</a:t>
            </a: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lnSpcReduction="10000"/>
          </a:bodyPr>
          <a:lstStyle/>
          <a:p>
            <a:pPr marL="305435" indent="-305435">
              <a:spcBef>
                <a:spcPct val="20000"/>
              </a:spcBef>
              <a:spcAft>
                <a:spcPts val="600"/>
              </a:spcAft>
              <a:buFont typeface="Arial"/>
              <a:buChar char="•"/>
            </a:pPr>
            <a:r>
              <a:rPr lang="en-US" sz="1800" b="1" dirty="0">
                <a:latin typeface="Franklin Gothic Book"/>
              </a:rPr>
              <a:t>Algorithm:</a:t>
            </a:r>
          </a:p>
          <a:p>
            <a:pPr marL="457200" lvl="1" indent="0">
              <a:spcBef>
                <a:spcPct val="20000"/>
              </a:spcBef>
              <a:spcAft>
                <a:spcPts val="600"/>
              </a:spcAft>
              <a:buNone/>
            </a:pPr>
            <a:r>
              <a:rPr lang="en-US" sz="1800" dirty="0">
                <a:latin typeface="Franklin Gothic Book"/>
              </a:rPr>
              <a:t>    Step 1: The system receives Python code input from the user via the </a:t>
            </a:r>
            <a:r>
              <a:rPr lang="en-US" sz="1800" dirty="0" err="1">
                <a:latin typeface="Franklin Gothic Book"/>
              </a:rPr>
              <a:t>Streamlit</a:t>
            </a:r>
            <a:r>
              <a:rPr lang="en-US" sz="1800" dirty="0">
                <a:latin typeface="Franklin Gothic Book"/>
              </a:rPr>
              <a:t> interface.</a:t>
            </a:r>
          </a:p>
          <a:p>
            <a:pPr marL="457200" lvl="1" indent="0">
              <a:spcBef>
                <a:spcPct val="20000"/>
              </a:spcBef>
              <a:spcAft>
                <a:spcPts val="600"/>
              </a:spcAft>
              <a:buNone/>
            </a:pPr>
            <a:r>
              <a:rPr lang="en-US" sz="1800" dirty="0">
                <a:latin typeface="Franklin Gothic Book"/>
              </a:rPr>
              <a:t>    Step 2: The system sends an HTTP POST request to the OpenAI API endpoint, including the code and the review instructions.</a:t>
            </a:r>
          </a:p>
          <a:p>
            <a:pPr marL="457200" lvl="1" indent="0">
              <a:spcBef>
                <a:spcPct val="20000"/>
              </a:spcBef>
              <a:spcAft>
                <a:spcPts val="600"/>
              </a:spcAft>
              <a:buNone/>
            </a:pPr>
            <a:r>
              <a:rPr lang="en-US" sz="1800" dirty="0">
                <a:latin typeface="Franklin Gothic Book"/>
              </a:rPr>
              <a:t>    Step 3: The AI model processes the request and returns a JSON response containing the analysis and corrected code.</a:t>
            </a:r>
          </a:p>
          <a:p>
            <a:pPr marL="457200" lvl="1" indent="0">
              <a:spcBef>
                <a:spcPct val="20000"/>
              </a:spcBef>
              <a:spcAft>
                <a:spcPts val="600"/>
              </a:spcAft>
              <a:buNone/>
            </a:pPr>
            <a:r>
              <a:rPr lang="en-US" sz="1800" dirty="0">
                <a:latin typeface="Franklin Gothic Book"/>
              </a:rPr>
              <a:t>    Step 4: The application extracts the relevant text fields from the JSON response and renders them on the UI.</a:t>
            </a:r>
          </a:p>
          <a:p>
            <a:pPr marL="305435" indent="-305435">
              <a:spcBef>
                <a:spcPct val="20000"/>
              </a:spcBef>
              <a:spcAft>
                <a:spcPts val="600"/>
              </a:spcAft>
              <a:buFont typeface="Arial"/>
              <a:buChar char="•"/>
            </a:pPr>
            <a:r>
              <a:rPr lang="en-US" sz="1800" b="1" dirty="0">
                <a:latin typeface="Franklin Gothic Book"/>
              </a:rPr>
              <a:t>  Deployment:</a:t>
            </a:r>
          </a:p>
          <a:p>
            <a:pPr marL="457200" lvl="1" indent="0">
              <a:spcBef>
                <a:spcPct val="20000"/>
              </a:spcBef>
              <a:spcAft>
                <a:spcPts val="600"/>
              </a:spcAft>
              <a:buNone/>
            </a:pPr>
            <a:r>
              <a:rPr lang="en-US" sz="1400" dirty="0">
                <a:latin typeface="Franklin Gothic Book"/>
              </a:rPr>
              <a:t>     </a:t>
            </a:r>
            <a:r>
              <a:rPr lang="en-US" sz="1800" dirty="0">
                <a:latin typeface="Franklin Gothic Book"/>
              </a:rPr>
              <a:t>Develop a lightweight web application that runs on a local server or cloud container.</a:t>
            </a:r>
          </a:p>
          <a:p>
            <a:pPr marL="457200" lvl="1" indent="0">
              <a:spcBef>
                <a:spcPct val="20000"/>
              </a:spcBef>
              <a:spcAft>
                <a:spcPts val="600"/>
              </a:spcAft>
              <a:buNone/>
            </a:pPr>
            <a:r>
              <a:rPr lang="en-US" sz="1800" dirty="0">
                <a:latin typeface="Franklin Gothic Book"/>
              </a:rPr>
              <a:t>    Deploy the solution using the command </a:t>
            </a:r>
          </a:p>
          <a:p>
            <a:pPr marL="457200" lvl="1" indent="0">
              <a:spcBef>
                <a:spcPct val="20000"/>
              </a:spcBef>
              <a:spcAft>
                <a:spcPts val="600"/>
              </a:spcAft>
              <a:buNone/>
            </a:pPr>
            <a:r>
              <a:rPr lang="en-US" sz="1800" b="1" dirty="0">
                <a:latin typeface="Franklin Gothic Book"/>
              </a:rPr>
              <a:t>       </a:t>
            </a:r>
            <a:r>
              <a:rPr lang="en-US" sz="1800" b="1" dirty="0" err="1">
                <a:latin typeface="Franklin Gothic Book"/>
              </a:rPr>
              <a:t>streamlit</a:t>
            </a:r>
            <a:r>
              <a:rPr lang="en-US" sz="1800" b="1" dirty="0">
                <a:latin typeface="Franklin Gothic Book"/>
              </a:rPr>
              <a:t> run genai_code_reviewer.py</a:t>
            </a:r>
            <a:r>
              <a:rPr lang="en-US" sz="1800" dirty="0">
                <a:latin typeface="Franklin Gothic Book"/>
              </a:rPr>
              <a:t>, making it accessible via a local browser URL (e.g.,     http://localhost:8501).</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a:bodyPr>
          <a:lstStyle/>
          <a:p>
            <a:pPr marL="0" indent="0">
              <a:spcBef>
                <a:spcPct val="20000"/>
              </a:spcBef>
              <a:spcAft>
                <a:spcPts val="600"/>
              </a:spcAft>
              <a:buNone/>
            </a:pPr>
            <a:r>
              <a:rPr lang="en-US" sz="2400" dirty="0">
                <a:latin typeface="Franklin Gothic Book"/>
              </a:rPr>
              <a:t>Input: The user submits a Python function containing a "Division by Zero" error and inefficient variable naming.</a:t>
            </a:r>
          </a:p>
          <a:p>
            <a:pPr marL="0" indent="0">
              <a:spcBef>
                <a:spcPct val="20000"/>
              </a:spcBef>
              <a:spcAft>
                <a:spcPts val="600"/>
              </a:spcAft>
              <a:buNone/>
            </a:pPr>
            <a:r>
              <a:rPr lang="en-US" sz="2400" dirty="0">
                <a:latin typeface="Franklin Gothic Book"/>
              </a:rPr>
              <a:t>  Output: The application displays a "Bug Detected" alert explaining the zero division risk.</a:t>
            </a:r>
          </a:p>
          <a:p>
            <a:pPr marL="0" indent="0">
              <a:spcBef>
                <a:spcPct val="20000"/>
              </a:spcBef>
              <a:spcAft>
                <a:spcPts val="600"/>
              </a:spcAft>
              <a:buNone/>
            </a:pPr>
            <a:r>
              <a:rPr lang="en-US" sz="2400" dirty="0">
                <a:latin typeface="Franklin Gothic Book"/>
              </a:rPr>
              <a:t>  Correction: A "Fixed Code" section appears below, showing the corrected function with error handling (try-except block) added.</a:t>
            </a:r>
            <a:endParaRPr lang="en-GB" sz="2400" dirty="0"/>
          </a:p>
        </p:txBody>
      </p:sp>
      <p:pic>
        <p:nvPicPr>
          <p:cNvPr id="13" name="Picture 12">
            <a:extLst>
              <a:ext uri="{FF2B5EF4-FFF2-40B4-BE49-F238E27FC236}">
                <a16:creationId xmlns:a16="http://schemas.microsoft.com/office/drawing/2014/main" id="{38786D54-D73B-D2C8-FB78-2E75C808D7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2193" y="4008314"/>
            <a:ext cx="5554479" cy="2576298"/>
          </a:xfrm>
          <a:prstGeom prst="rect">
            <a:avLst/>
          </a:prstGeom>
        </p:spPr>
      </p:pic>
      <p:pic>
        <p:nvPicPr>
          <p:cNvPr id="15" name="Picture 14">
            <a:extLst>
              <a:ext uri="{FF2B5EF4-FFF2-40B4-BE49-F238E27FC236}">
                <a16:creationId xmlns:a16="http://schemas.microsoft.com/office/drawing/2014/main" id="{7C924F75-FEF5-05BB-EF94-3472D9FF5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626" y="3971022"/>
            <a:ext cx="5155078" cy="2613590"/>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dirty="0">
                <a:latin typeface="Franklin Gothic Book"/>
              </a:rPr>
              <a:t>The GenAI Code Reviewer successfully automates the identification of bugs and code optimization, significantly reducing debugging </a:t>
            </a:r>
            <a:r>
              <a:rPr lang="en-US" dirty="0" err="1">
                <a:latin typeface="Franklin Gothic Book"/>
              </a:rPr>
              <a:t>time.The</a:t>
            </a:r>
            <a:r>
              <a:rPr lang="en-US" dirty="0">
                <a:latin typeface="Franklin Gothic Book"/>
              </a:rPr>
              <a:t> application demonstrates how Generative AI can serve as a real-time coding tutor, enhancing both productivity and code quality for developers.</a:t>
            </a:r>
            <a:endParaRPr lang="en-US"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a:spcBef>
                <a:spcPct val="20000"/>
              </a:spcBef>
              <a:spcAft>
                <a:spcPts val="600"/>
              </a:spcAft>
            </a:pPr>
            <a:endParaRPr lang="en-US" b="1" dirty="0">
              <a:latin typeface="Franklin Gothic Book"/>
            </a:endParaRPr>
          </a:p>
          <a:p>
            <a:pPr>
              <a:spcBef>
                <a:spcPct val="20000"/>
              </a:spcBef>
              <a:spcAft>
                <a:spcPts val="600"/>
              </a:spcAft>
            </a:pPr>
            <a:r>
              <a:rPr lang="en-US" b="1" dirty="0">
                <a:latin typeface="Franklin Gothic Book"/>
              </a:rPr>
              <a:t>Multi-Language Support: </a:t>
            </a:r>
            <a:r>
              <a:rPr lang="en-US" dirty="0">
                <a:latin typeface="Franklin Gothic Book"/>
              </a:rPr>
              <a:t>Expand the system to review code in Java, C++, JavaScript, and HTML/CSS.</a:t>
            </a:r>
          </a:p>
          <a:p>
            <a:pPr>
              <a:spcBef>
                <a:spcPct val="20000"/>
              </a:spcBef>
              <a:spcAft>
                <a:spcPts val="600"/>
              </a:spcAft>
            </a:pPr>
            <a:r>
              <a:rPr lang="en-US" dirty="0"/>
              <a:t> </a:t>
            </a:r>
            <a:r>
              <a:rPr lang="en-US" b="1" dirty="0"/>
              <a:t>IDE Plugin: </a:t>
            </a:r>
            <a:r>
              <a:rPr lang="en-US" dirty="0"/>
              <a:t>Develop extensions for VS Code or PyCharm to provide real-time suggestions as the user types.</a:t>
            </a:r>
          </a:p>
          <a:p>
            <a:pPr>
              <a:spcBef>
                <a:spcPct val="20000"/>
              </a:spcBef>
              <a:spcAft>
                <a:spcPts val="600"/>
              </a:spcAft>
            </a:pPr>
            <a:r>
              <a:rPr lang="en-US" dirty="0"/>
              <a:t> </a:t>
            </a:r>
            <a:r>
              <a:rPr lang="en-US" b="1" dirty="0"/>
              <a:t>File Analysis: </a:t>
            </a:r>
            <a:r>
              <a:rPr lang="en-US" dirty="0"/>
              <a:t>Implement functionality to upload and review entire project files (.</a:t>
            </a:r>
            <a:r>
              <a:rPr lang="en-US" dirty="0" err="1"/>
              <a:t>py</a:t>
            </a:r>
            <a:r>
              <a:rPr lang="en-US" dirty="0"/>
              <a:t>, .</a:t>
            </a:r>
            <a:r>
              <a:rPr lang="en-US" dirty="0" err="1"/>
              <a:t>js</a:t>
            </a:r>
            <a:r>
              <a:rPr lang="en-US" dirty="0"/>
              <a:t>) rather than single snippets.</a:t>
            </a:r>
            <a:endParaRPr lang="en-GB"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 * </a:t>
            </a:r>
            <a:r>
              <a:rPr lang="en-IN" sz="2400" dirty="0">
                <a:latin typeface="Franklin Gothic Book"/>
              </a:rPr>
              <a:t>OpenAI API Documentation: </a:t>
            </a:r>
            <a:r>
              <a:rPr lang="en-IN" sz="2400" dirty="0">
                <a:latin typeface="Franklin Gothic Book"/>
                <a:hlinkClick r:id="rId2"/>
              </a:rPr>
              <a:t>https://platform.openai.com/docs/</a:t>
            </a:r>
            <a:endParaRPr lang="en-IN" sz="2400" dirty="0">
              <a:latin typeface="Franklin Gothic Book"/>
            </a:endParaRPr>
          </a:p>
          <a:p>
            <a:pPr marL="0" indent="0">
              <a:buNone/>
            </a:pPr>
            <a:r>
              <a:rPr lang="en-IN" sz="2400" dirty="0">
                <a:latin typeface="Franklin Gothic Book"/>
              </a:rPr>
              <a:t> * </a:t>
            </a:r>
            <a:r>
              <a:rPr lang="en-IN" sz="2400" dirty="0" err="1">
                <a:latin typeface="Franklin Gothic Book"/>
              </a:rPr>
              <a:t>Streamlit</a:t>
            </a:r>
            <a:r>
              <a:rPr lang="en-IN" sz="2400" dirty="0">
                <a:latin typeface="Franklin Gothic Book"/>
              </a:rPr>
              <a:t> Framework: </a:t>
            </a:r>
            <a:r>
              <a:rPr lang="en-IN" sz="2400" dirty="0">
                <a:latin typeface="Franklin Gothic Book"/>
                <a:hlinkClick r:id="rId3"/>
              </a:rPr>
              <a:t>https://docs.streamlit.io/</a:t>
            </a:r>
            <a:endParaRPr lang="en-IN" sz="2400" dirty="0">
              <a:latin typeface="Franklin Gothic Book"/>
            </a:endParaRPr>
          </a:p>
          <a:p>
            <a:pPr marL="0" indent="0">
              <a:buNone/>
            </a:pPr>
            <a:r>
              <a:rPr lang="en-IN" sz="2400" dirty="0">
                <a:latin typeface="Franklin Gothic Book"/>
              </a:rPr>
              <a:t> * Python Software Foundation: </a:t>
            </a:r>
            <a:r>
              <a:rPr lang="en-IN" sz="2400" dirty="0">
                <a:latin typeface="Franklin Gothic Book"/>
                <a:hlinkClick r:id="rId4"/>
              </a:rPr>
              <a:t>https://www.python.org/</a:t>
            </a:r>
            <a:endParaRPr lang="en-IN" sz="2400" dirty="0">
              <a:latin typeface="Franklin Gothic Book"/>
            </a:endParaRPr>
          </a:p>
          <a:p>
            <a:pPr marL="0" indent="0">
              <a:buNone/>
            </a:pPr>
            <a:endParaRPr lang="en-IN" sz="2400" dirty="0">
              <a:latin typeface="Franklin Gothic Book"/>
            </a:endParaRPr>
          </a:p>
          <a:p>
            <a:pPr marL="0" indent="0" algn="ctr">
              <a:buNone/>
            </a:pPr>
            <a:r>
              <a:rPr lang="en-IN" sz="2400" dirty="0">
                <a:latin typeface="Franklin Gothic Book"/>
              </a:rPr>
              <a:t>GitHub Link:</a:t>
            </a:r>
            <a:r>
              <a:rPr lang="en-IN" sz="2400" dirty="0">
                <a:solidFill>
                  <a:srgbClr val="0070C0"/>
                </a:solidFill>
                <a:latin typeface="Franklin Gothic Book"/>
              </a:rPr>
              <a:t> </a:t>
            </a:r>
            <a:r>
              <a:rPr lang="en-IN" sz="2400" u="sng" dirty="0">
                <a:solidFill>
                  <a:srgbClr val="0070C0"/>
                </a:solidFill>
                <a:latin typeface="Franklin Gothic Book"/>
                <a:hlinkClick r:id="rId5"/>
              </a:rPr>
              <a:t>Link</a:t>
            </a:r>
            <a:endParaRPr lang="en-IN" sz="24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845</Words>
  <Application>Microsoft Office PowerPoint</Application>
  <PresentationFormat>Widescreen</PresentationFormat>
  <Paragraphs>68</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SURESH KUMAR</cp:lastModifiedBy>
  <cp:revision>112</cp:revision>
  <dcterms:created xsi:type="dcterms:W3CDTF">2024-05-21T11:55:07Z</dcterms:created>
  <dcterms:modified xsi:type="dcterms:W3CDTF">2026-02-18T01:32:42Z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